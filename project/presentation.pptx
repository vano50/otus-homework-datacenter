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2" r:id="rId1"/>
  </p:sldMasterIdLst>
  <p:notesMasterIdLst>
    <p:notesMasterId r:id="rId17"/>
  </p:notesMasterIdLst>
  <p:sldIdLst>
    <p:sldId id="256" r:id="rId2"/>
    <p:sldId id="257" r:id="rId3"/>
    <p:sldId id="258" r:id="rId4"/>
    <p:sldId id="260" r:id="rId5"/>
    <p:sldId id="264" r:id="rId6"/>
    <p:sldId id="275" r:id="rId7"/>
    <p:sldId id="276" r:id="rId8"/>
    <p:sldId id="277" r:id="rId9"/>
    <p:sldId id="269" r:id="rId10"/>
    <p:sldId id="270" r:id="rId11"/>
    <p:sldId id="278" r:id="rId12"/>
    <p:sldId id="279" r:id="rId13"/>
    <p:sldId id="280" r:id="rId14"/>
    <p:sldId id="265" r:id="rId15"/>
    <p:sldId id="266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pos="5533">
          <p15:clr>
            <a:srgbClr val="A4A3A4"/>
          </p15:clr>
        </p15:guide>
        <p15:guide id="2" pos="227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96284A0-B14C-4C2D-B731-6C7B5FDCEEF5}">
  <a:tblStyle styleId="{E96284A0-B14C-4C2D-B731-6C7B5FDCEE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9" d="100"/>
          <a:sy n="159" d="100"/>
        </p:scale>
        <p:origin x="-234" y="216"/>
      </p:cViewPr>
      <p:guideLst>
        <p:guide orient="horz" pos="179"/>
        <p:guide pos="5533"/>
        <p:guide pos="22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623446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46298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f97f5ce68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f97f5ce68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01914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97f5ce68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97f5ce68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e04b8b675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e04b8b675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=""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otus.ru</a:t>
            </a: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Дизайн сетей ЦОД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 слышно?</a:t>
            </a:r>
            <a:endParaRPr sz="4000"/>
          </a:p>
        </p:txBody>
      </p:sp>
      <p:pic>
        <p:nvPicPr>
          <p:cNvPr id="76" name="Google Shape;7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/>
        </p:nvSpPr>
        <p:spPr>
          <a:xfrm>
            <a:off x="630000" y="2716325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>
              <a:buSzPts val="1100"/>
            </a:pPr>
            <a:r>
              <a:rPr lang="ru" sz="3000" dirty="0"/>
              <a:t>Тема: </a:t>
            </a:r>
            <a:r>
              <a:rPr lang="ru-RU" sz="2000" dirty="0"/>
              <a:t>Использование технологий, применяемых в ЦОД, для модернизации </a:t>
            </a:r>
            <a:r>
              <a:rPr lang="ru-RU" sz="2000" dirty="0" err="1"/>
              <a:t>кампусной</a:t>
            </a:r>
            <a:r>
              <a:rPr lang="ru-RU" sz="2000" dirty="0"/>
              <a:t> сети</a:t>
            </a:r>
            <a:br>
              <a:rPr lang="ru-RU" sz="2000" dirty="0"/>
            </a:br>
            <a:r>
              <a:rPr lang="ru-RU" sz="2000" dirty="0"/>
              <a:t/>
            </a:r>
            <a:br>
              <a:rPr lang="ru-RU" sz="2000" dirty="0"/>
            </a:br>
            <a:r>
              <a:rPr lang="ru-RU" sz="1100" b="1" i="0" dirty="0">
                <a:solidFill>
                  <a:srgbClr val="1F2328"/>
                </a:solidFill>
                <a:effectLst/>
                <a:latin typeface="-apple-system"/>
              </a:rPr>
              <a:t/>
            </a:r>
            <a:br>
              <a:rPr lang="ru-RU" sz="1100" b="1" i="0" dirty="0">
                <a:solidFill>
                  <a:srgbClr val="1F2328"/>
                </a:solidFill>
                <a:effectLst/>
                <a:latin typeface="-apple-system"/>
              </a:rPr>
            </a:b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18"/>
          <p:cNvSpPr txBox="1"/>
          <p:nvPr/>
        </p:nvSpPr>
        <p:spPr>
          <a:xfrm>
            <a:off x="3123850" y="2716325"/>
            <a:ext cx="5856300" cy="56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 err="1" smtClean="0">
                <a:latin typeface="Roboto"/>
                <a:ea typeface="Roboto"/>
                <a:cs typeface="Roboto"/>
                <a:sym typeface="Roboto"/>
              </a:rPr>
              <a:t>Семенюта</a:t>
            </a:r>
            <a:r>
              <a:rPr lang="ru-RU" b="1" dirty="0" smtClean="0">
                <a:latin typeface="Roboto"/>
                <a:ea typeface="Roboto"/>
                <a:cs typeface="Roboto"/>
                <a:sym typeface="Roboto"/>
              </a:rPr>
              <a:t> Иван Васильевич</a:t>
            </a:r>
            <a:endParaRPr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8"/>
          <p:cNvSpPr txBox="1"/>
          <p:nvPr/>
        </p:nvSpPr>
        <p:spPr>
          <a:xfrm>
            <a:off x="3123850" y="3279300"/>
            <a:ext cx="5856300" cy="13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Начальник отдела системного администрирования и защиты информации</a:t>
            </a:r>
            <a:endParaRPr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 smtClean="0">
                <a:latin typeface="Roboto"/>
                <a:ea typeface="Roboto"/>
                <a:cs typeface="Roboto"/>
                <a:sym typeface="Roboto"/>
              </a:rPr>
              <a:t>АО КПК «Ставропольстройопторг»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ru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проекта</a:t>
            </a:r>
            <a:endParaRPr/>
          </a:p>
        </p:txBody>
      </p:sp>
      <p:graphicFrame>
        <p:nvGraphicFramePr>
          <p:cNvPr id="108" name="Google Shape;108;p20"/>
          <p:cNvGraphicFramePr/>
          <p:nvPr>
            <p:extLst>
              <p:ext uri="{D42A27DB-BD31-4B8C-83A1-F6EECF244321}">
                <p14:modId xmlns:p14="http://schemas.microsoft.com/office/powerpoint/2010/main" val="1649867010"/>
              </p:ext>
            </p:extLst>
          </p:nvPr>
        </p:nvGraphicFramePr>
        <p:xfrm>
          <a:off x="874256" y="1343472"/>
          <a:ext cx="7268179" cy="1094964"/>
        </p:xfrm>
        <a:graphic>
          <a:graphicData uri="http://schemas.openxmlformats.org/drawingml/2006/table">
            <a:tbl>
              <a:tblPr>
                <a:noFill/>
                <a:tableStyleId>{E96284A0-B14C-4C2D-B731-6C7B5FDCEEF5}</a:tableStyleId>
              </a:tblPr>
              <a:tblGrid>
                <a:gridCol w="49139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77678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Уйти от большого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L2 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домена в </a:t>
                      </a:r>
                      <a:r>
                        <a:rPr lang="ru-RU" sz="13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кампусной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сети фирмы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Заменить технологию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VSS 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в центральном узле сети на что-то </a:t>
                      </a:r>
                      <a:r>
                        <a:rPr lang="ru-RU" sz="13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по-лучше</a:t>
                      </a:r>
                      <a:endParaRPr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465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Растянуть один из </a:t>
                      </a:r>
                      <a:r>
                        <a:rPr lang="en-US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</a:t>
                      </a:r>
                      <a:r>
                        <a:rPr lang="ru-RU" sz="1300" dirty="0" err="1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ов</a:t>
                      </a:r>
                      <a:r>
                        <a:rPr lang="ru-RU" sz="1300" baseline="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центрального офиса до филиала</a:t>
                      </a:r>
                      <a:r>
                        <a:rPr lang="ru-RU" sz="1300" dirty="0" smtClean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3746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Схем</a:t>
            </a:r>
            <a:r>
              <a:rPr lang="ru-RU" sz="3000" dirty="0" smtClean="0"/>
              <a:t>а</a:t>
            </a:r>
            <a:r>
              <a:rPr lang="en-US" sz="3000" dirty="0" smtClean="0"/>
              <a:t> </a:t>
            </a:r>
            <a:r>
              <a:rPr lang="ru-RU" sz="3000" dirty="0" smtClean="0"/>
              <a:t>старой сети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8541"/>
            <a:ext cx="9144000" cy="42086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511958"/>
          </a:xfrm>
        </p:spPr>
        <p:txBody>
          <a:bodyPr/>
          <a:lstStyle/>
          <a:p>
            <a:r>
              <a:rPr lang="ru-RU" sz="2000" dirty="0" smtClean="0"/>
              <a:t>Сервера и СХД подключаются к </a:t>
            </a:r>
            <a:r>
              <a:rPr lang="ru-RU" sz="2000" dirty="0" err="1" smtClean="0"/>
              <a:t>нодам</a:t>
            </a:r>
            <a:r>
              <a:rPr lang="ru-RU" sz="2000" dirty="0" smtClean="0"/>
              <a:t> ядра сети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050" y="1014195"/>
            <a:ext cx="3943900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3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2000" dirty="0" smtClean="0"/>
              <a:t>Виртуальный </a:t>
            </a:r>
            <a:r>
              <a:rPr lang="en-US" sz="2000" dirty="0" smtClean="0"/>
              <a:t>NGFW </a:t>
            </a:r>
            <a:r>
              <a:rPr lang="ru-RU" sz="2000" dirty="0" smtClean="0"/>
              <a:t>в головном офисе и «железные» в филиалах. Маршрутной информацией обмениваются по </a:t>
            </a:r>
            <a:r>
              <a:rPr lang="en-US" sz="2000" dirty="0" smtClean="0"/>
              <a:t>OSPF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28" y="1169583"/>
            <a:ext cx="4429743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86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550" y="330724"/>
            <a:ext cx="8520600" cy="721135"/>
          </a:xfrm>
        </p:spPr>
        <p:txBody>
          <a:bodyPr/>
          <a:lstStyle/>
          <a:p>
            <a:r>
              <a:rPr lang="ru-RU" sz="2000" dirty="0" smtClean="0"/>
              <a:t>Большой </a:t>
            </a:r>
            <a:r>
              <a:rPr lang="en-US" sz="2000" dirty="0" smtClean="0"/>
              <a:t>L2 </a:t>
            </a:r>
            <a:r>
              <a:rPr lang="ru-RU" sz="2000" dirty="0" smtClean="0"/>
              <a:t>домен. </a:t>
            </a:r>
            <a:r>
              <a:rPr lang="en-US" sz="2000" dirty="0" smtClean="0"/>
              <a:t>BUM </a:t>
            </a:r>
            <a:r>
              <a:rPr lang="ru-RU" sz="2000" dirty="0" smtClean="0"/>
              <a:t>трафик распространяется по всем 50 коммутаторам доступа фирмы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80312"/>
            <a:ext cx="9144000" cy="276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304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3"/>
            <a:ext cx="8362556" cy="607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 smtClean="0"/>
              <a:t>План новой сети</a:t>
            </a:r>
            <a:endParaRPr sz="3000" dirty="0"/>
          </a:p>
          <a:p>
            <a:r>
              <a:rPr lang="ru-RU" sz="1200" dirty="0" smtClean="0"/>
              <a:t/>
            </a:r>
            <a:br>
              <a:rPr lang="ru-RU" sz="1200" dirty="0" smtClean="0"/>
            </a:br>
            <a:r>
              <a:rPr lang="ru-RU" sz="1200" dirty="0" smtClean="0"/>
              <a:t>Центральный узел сети собираем из 4-ёх коммутаторов</a:t>
            </a:r>
            <a:br>
              <a:rPr lang="ru-RU" sz="1200" dirty="0" smtClean="0"/>
            </a:br>
            <a:r>
              <a:rPr lang="ru-RU" sz="1200" dirty="0" smtClean="0"/>
              <a:t>похожих на схему </a:t>
            </a:r>
            <a:r>
              <a:rPr lang="en-US" sz="1200" dirty="0" smtClean="0"/>
              <a:t>LEAF-SPINE</a:t>
            </a:r>
            <a:r>
              <a:rPr lang="ru-RU" sz="1200" dirty="0" smtClean="0"/>
              <a:t>.</a:t>
            </a:r>
            <a:br>
              <a:rPr lang="ru-RU" sz="1200" dirty="0" smtClean="0"/>
            </a:br>
            <a:r>
              <a:rPr lang="ru-RU" sz="1200" b="0" dirty="0"/>
              <a:t>Для обеспечения отказоустойчивости центрального узла сети </a:t>
            </a:r>
            <a:r>
              <a:rPr lang="ru-RU" sz="1200" b="0" dirty="0" smtClean="0"/>
              <a:t/>
            </a:r>
            <a:br>
              <a:rPr lang="ru-RU" sz="1200" b="0" dirty="0" smtClean="0"/>
            </a:br>
            <a:r>
              <a:rPr lang="ru-RU" sz="1200" b="0" dirty="0" smtClean="0"/>
              <a:t>будет </a:t>
            </a:r>
            <a:r>
              <a:rPr lang="ru-RU" sz="1200" b="0" dirty="0"/>
              <a:t>использована схема похожая на LEAF и SPINE </a:t>
            </a:r>
            <a:r>
              <a:rPr lang="ru-RU" sz="1200" b="0" dirty="0" smtClean="0"/>
              <a:t/>
            </a:r>
            <a:br>
              <a:rPr lang="ru-RU" sz="1200" b="0" dirty="0" smtClean="0"/>
            </a:br>
            <a:r>
              <a:rPr lang="ru-RU" sz="1200" b="0" dirty="0" smtClean="0"/>
              <a:t>применяемая </a:t>
            </a:r>
            <a:r>
              <a:rPr lang="ru-RU" sz="1200" b="0" dirty="0"/>
              <a:t>в </a:t>
            </a:r>
            <a:r>
              <a:rPr lang="ru-RU" sz="1200" b="0" dirty="0" err="1"/>
              <a:t>ЦОДах</a:t>
            </a:r>
            <a:r>
              <a:rPr lang="ru-RU" sz="1200" b="0" dirty="0"/>
              <a:t>. Медные коммутаторы подключаются </a:t>
            </a:r>
            <a:r>
              <a:rPr lang="ru-RU" sz="1200" b="0" dirty="0" smtClean="0"/>
              <a:t/>
            </a:r>
            <a:br>
              <a:rPr lang="ru-RU" sz="1200" b="0" dirty="0" smtClean="0"/>
            </a:br>
            <a:r>
              <a:rPr lang="ru-RU" sz="1200" b="0" dirty="0" smtClean="0"/>
              <a:t>как </a:t>
            </a:r>
            <a:r>
              <a:rPr lang="ru-RU" sz="1200" b="0" dirty="0"/>
              <a:t>LEAF: по </a:t>
            </a:r>
            <a:r>
              <a:rPr lang="ru-RU" sz="1200" b="0" dirty="0" err="1"/>
              <a:t>линку</a:t>
            </a:r>
            <a:r>
              <a:rPr lang="ru-RU" sz="1200" b="0" dirty="0"/>
              <a:t> до каждого SPINE. </a:t>
            </a:r>
            <a:r>
              <a:rPr lang="ru-RU" sz="1200" b="0" dirty="0" smtClean="0"/>
              <a:t/>
            </a:r>
            <a:br>
              <a:rPr lang="ru-RU" sz="1200" b="0" dirty="0" smtClean="0"/>
            </a:br>
            <a:r>
              <a:rPr lang="ru-RU" sz="1200" b="0" dirty="0" smtClean="0"/>
              <a:t>Между </a:t>
            </a:r>
            <a:r>
              <a:rPr lang="ru-RU" sz="1200" b="0" dirty="0"/>
              <a:t>SPINE так же есть </a:t>
            </a:r>
            <a:r>
              <a:rPr lang="ru-RU" sz="1200" b="0" dirty="0" err="1"/>
              <a:t>линк</a:t>
            </a:r>
            <a:r>
              <a:rPr lang="ru-RU" sz="1200" b="0" dirty="0"/>
              <a:t>, так как много трафика будет </a:t>
            </a:r>
            <a:r>
              <a:rPr lang="ru-RU" sz="1200" b="0" dirty="0" smtClean="0"/>
              <a:t/>
            </a:r>
            <a:br>
              <a:rPr lang="ru-RU" sz="1200" b="0" dirty="0" smtClean="0"/>
            </a:br>
            <a:r>
              <a:rPr lang="ru-RU" sz="1200" b="0" dirty="0" smtClean="0"/>
              <a:t>ходить </a:t>
            </a:r>
            <a:r>
              <a:rPr lang="ru-RU" sz="1200" b="0" dirty="0"/>
              <a:t>между этими </a:t>
            </a:r>
            <a:r>
              <a:rPr lang="ru-RU" sz="1200" b="0" dirty="0" err="1"/>
              <a:t>SPINEами</a:t>
            </a:r>
            <a:r>
              <a:rPr lang="ru-RU" sz="1200" b="0" dirty="0"/>
              <a:t>. По своей функциональности </a:t>
            </a:r>
            <a:r>
              <a:rPr lang="ru-RU" sz="1200" b="0" dirty="0" smtClean="0"/>
              <a:t/>
            </a:r>
            <a:br>
              <a:rPr lang="ru-RU" sz="1200" b="0" dirty="0" smtClean="0"/>
            </a:br>
            <a:r>
              <a:rPr lang="ru-RU" sz="1200" b="0" dirty="0" smtClean="0"/>
              <a:t>SPINE </a:t>
            </a:r>
            <a:r>
              <a:rPr lang="ru-RU" sz="1200" b="0" dirty="0"/>
              <a:t>коммутаторы являются такими же LEAF коммутаторами.</a:t>
            </a:r>
            <a:br>
              <a:rPr lang="ru-RU" sz="1200" b="0" dirty="0"/>
            </a:br>
            <a:r>
              <a:rPr lang="ru-RU" sz="1200" b="0" dirty="0" smtClean="0"/>
              <a:t>Сервера и СХД подключаются к центральному узлу сети</a:t>
            </a:r>
            <a:br>
              <a:rPr lang="ru-RU" sz="1200" b="0" dirty="0" smtClean="0"/>
            </a:br>
            <a:r>
              <a:rPr lang="ru-RU" sz="1200" b="0" dirty="0" smtClean="0"/>
              <a:t>по «оптике» либо по «меди».</a:t>
            </a: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642" y="1158349"/>
            <a:ext cx="3600953" cy="349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60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016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/>
              <a:t>Коммутаторы доступа подключаем к центральному узлу сети по </a:t>
            </a:r>
            <a:r>
              <a:rPr lang="en-US" sz="2000" dirty="0" smtClean="0"/>
              <a:t>L3</a:t>
            </a:r>
            <a:r>
              <a:rPr lang="ru-RU" sz="2000" dirty="0" smtClean="0"/>
              <a:t>. Настраиваем между ними </a:t>
            </a:r>
            <a:r>
              <a:rPr lang="en-US" sz="2000" dirty="0" smtClean="0"/>
              <a:t>VXLAN/EVPN</a:t>
            </a: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7563"/>
            <a:ext cx="9144000" cy="331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05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884706" y="330724"/>
            <a:ext cx="5136444" cy="4296424"/>
          </a:xfrm>
        </p:spPr>
        <p:txBody>
          <a:bodyPr/>
          <a:lstStyle/>
          <a:p>
            <a:r>
              <a:rPr lang="ru-RU" sz="2000" dirty="0" smtClean="0"/>
              <a:t>Между филиалами и </a:t>
            </a:r>
            <a:r>
              <a:rPr lang="en-US" sz="2000" dirty="0" smtClean="0"/>
              <a:t>NGFW </a:t>
            </a:r>
            <a:r>
              <a:rPr lang="ru-RU" sz="2000" dirty="0" smtClean="0"/>
              <a:t>центрального офиса настраиваем </a:t>
            </a:r>
            <a:r>
              <a:rPr lang="en-US" sz="2000" dirty="0" smtClean="0"/>
              <a:t>OSPF </a:t>
            </a:r>
            <a:r>
              <a:rPr lang="ru-RU" sz="2000" dirty="0" smtClean="0"/>
              <a:t>через </a:t>
            </a:r>
            <a:r>
              <a:rPr lang="en-US" sz="2000" dirty="0" smtClean="0"/>
              <a:t>IPSEC </a:t>
            </a:r>
            <a:r>
              <a:rPr lang="ru-RU" sz="2000" dirty="0" smtClean="0"/>
              <a:t>тоннель для обмена маршрутной информацией.</a:t>
            </a:r>
            <a:br>
              <a:rPr lang="ru-RU" sz="2000" dirty="0" smtClean="0"/>
            </a:br>
            <a:r>
              <a:rPr lang="ru-RU" sz="2000" dirty="0" smtClean="0"/>
              <a:t>Между оптическими ядрами и </a:t>
            </a:r>
            <a:r>
              <a:rPr lang="en-US" sz="2000" smtClean="0"/>
              <a:t>NGFW </a:t>
            </a:r>
            <a:r>
              <a:rPr lang="ru-RU" sz="2000" dirty="0" smtClean="0"/>
              <a:t>делаем «перекладывание» маршрутов из </a:t>
            </a:r>
            <a:r>
              <a:rPr lang="en-US" sz="2000" dirty="0" smtClean="0"/>
              <a:t>OSPF </a:t>
            </a:r>
            <a:r>
              <a:rPr lang="ru-RU" sz="2000" dirty="0" smtClean="0"/>
              <a:t>в </a:t>
            </a:r>
            <a:r>
              <a:rPr lang="en-US" sz="2000" dirty="0" smtClean="0"/>
              <a:t>EVPN </a:t>
            </a:r>
            <a:r>
              <a:rPr lang="ru-RU" sz="2000" dirty="0" smtClean="0"/>
              <a:t>и обратно.</a:t>
            </a:r>
            <a:endParaRPr lang="ru-RU" sz="20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76" y="1197669"/>
            <a:ext cx="3524742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28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18728" y="330723"/>
            <a:ext cx="2602421" cy="4103817"/>
          </a:xfrm>
        </p:spPr>
        <p:txBody>
          <a:bodyPr/>
          <a:lstStyle/>
          <a:p>
            <a:r>
              <a:rPr lang="ru-RU" sz="1600" dirty="0" smtClean="0"/>
              <a:t>До филиала №3 прокидываем </a:t>
            </a:r>
            <a:r>
              <a:rPr lang="en-US" sz="1600" dirty="0" smtClean="0"/>
              <a:t>VXLAN/EVPN</a:t>
            </a:r>
            <a:r>
              <a:rPr lang="ru-RU" sz="1600" dirty="0" smtClean="0"/>
              <a:t>, но только одного </a:t>
            </a:r>
            <a:r>
              <a:rPr lang="en-US" sz="1600" dirty="0" smtClean="0"/>
              <a:t>VLAN</a:t>
            </a:r>
            <a:r>
              <a:rPr lang="ru-RU" sz="1600" dirty="0"/>
              <a:t> </a:t>
            </a:r>
            <a:r>
              <a:rPr lang="ru-RU" sz="1600" dirty="0" smtClean="0"/>
              <a:t>через </a:t>
            </a:r>
            <a:r>
              <a:rPr lang="en-US" sz="1600" dirty="0" smtClean="0"/>
              <a:t>IPSEC </a:t>
            </a:r>
            <a:r>
              <a:rPr lang="ru-RU" sz="1600" dirty="0" smtClean="0"/>
              <a:t>в транспортном режиме по </a:t>
            </a:r>
            <a:r>
              <a:rPr lang="en-US" sz="1600" dirty="0" smtClean="0"/>
              <a:t>L2 VPN </a:t>
            </a:r>
            <a:r>
              <a:rPr lang="ru-RU" sz="1600" dirty="0" smtClean="0"/>
              <a:t>каналу от провайдера. Между ядром</a:t>
            </a:r>
            <a:r>
              <a:rPr lang="en-US" sz="1600" dirty="0" smtClean="0"/>
              <a:t> </a:t>
            </a:r>
            <a:r>
              <a:rPr lang="ru-RU" sz="1600" dirty="0" smtClean="0"/>
              <a:t>и </a:t>
            </a:r>
            <a:r>
              <a:rPr lang="en-US" sz="1600" dirty="0" smtClean="0"/>
              <a:t>NGFW </a:t>
            </a:r>
            <a:r>
              <a:rPr lang="ru-RU" sz="1600" dirty="0" smtClean="0"/>
              <a:t>добавляем </a:t>
            </a:r>
            <a:r>
              <a:rPr lang="en-US" sz="1600" dirty="0" smtClean="0"/>
              <a:t>sub </a:t>
            </a:r>
            <a:r>
              <a:rPr lang="ru-RU" sz="1600" dirty="0" smtClean="0"/>
              <a:t>интерфейс для растягивания </a:t>
            </a:r>
            <a:r>
              <a:rPr lang="en-US" sz="1600" dirty="0" smtClean="0"/>
              <a:t>Underlay </a:t>
            </a:r>
            <a:r>
              <a:rPr lang="ru-RU" sz="1600" dirty="0" smtClean="0"/>
              <a:t>в филиал 3.</a:t>
            </a:r>
            <a:endParaRPr lang="ru-RU" sz="16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28" y="695826"/>
            <a:ext cx="6134956" cy="352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39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6113" y="0"/>
            <a:ext cx="8520600" cy="513976"/>
          </a:xfrm>
        </p:spPr>
        <p:txBody>
          <a:bodyPr/>
          <a:lstStyle/>
          <a:p>
            <a:r>
              <a:rPr lang="ru-RU" dirty="0" smtClean="0"/>
              <a:t>Полная схема сети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13" y="543860"/>
            <a:ext cx="8131774" cy="459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298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4163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2000" dirty="0" smtClean="0"/>
              <a:t>Итог:</a:t>
            </a:r>
            <a:r>
              <a:rPr lang="ru-RU" sz="1200" dirty="0" smtClean="0"/>
              <a:t/>
            </a:r>
            <a:br>
              <a:rPr lang="ru-RU" sz="1200" dirty="0" smtClean="0"/>
            </a:br>
            <a:r>
              <a:rPr lang="ru-RU" sz="1200" dirty="0" smtClean="0"/>
              <a:t>- </a:t>
            </a:r>
            <a:r>
              <a:rPr lang="ru-RU" sz="1400" b="0" dirty="0" smtClean="0"/>
              <a:t>Таблицы </a:t>
            </a:r>
            <a:r>
              <a:rPr lang="ru-RU" sz="1400" b="0" dirty="0" err="1"/>
              <a:t>mac</a:t>
            </a:r>
            <a:r>
              <a:rPr lang="ru-RU" sz="1400" b="0" dirty="0"/>
              <a:t>-адресов всех VLAN распространяются посредством </a:t>
            </a:r>
            <a:r>
              <a:rPr lang="ru-RU" sz="1400" b="0" dirty="0" smtClean="0"/>
              <a:t>EVPN</a:t>
            </a:r>
            <a:r>
              <a:rPr lang="ru-RU" sz="1400" b="0" dirty="0"/>
              <a:t/>
            </a:r>
            <a:br>
              <a:rPr lang="ru-RU" sz="1400" b="0" dirty="0"/>
            </a:br>
            <a:r>
              <a:rPr lang="ru-RU" sz="1400" b="0" dirty="0" smtClean="0"/>
              <a:t>- От </a:t>
            </a:r>
            <a:r>
              <a:rPr lang="ru-RU" sz="1400" b="0" dirty="0"/>
              <a:t>широковещательного L2 домена ушли. Все коммутаторы доступа "стали" маршрутизаторами </a:t>
            </a:r>
            <a:r>
              <a:rPr lang="ru-RU" sz="1400" b="0" dirty="0" smtClean="0"/>
              <a:t>  доступа</a:t>
            </a:r>
            <a:r>
              <a:rPr lang="ru-RU" sz="1400" b="0" dirty="0"/>
              <a:t/>
            </a:r>
            <a:br>
              <a:rPr lang="ru-RU" sz="1400" b="0" dirty="0"/>
            </a:br>
            <a:r>
              <a:rPr lang="ru-RU" sz="1400" b="0" dirty="0" smtClean="0"/>
              <a:t>- </a:t>
            </a:r>
            <a:r>
              <a:rPr lang="ru-RU" sz="1400" b="0" dirty="0" err="1" smtClean="0"/>
              <a:t>Межвлановая</a:t>
            </a:r>
            <a:r>
              <a:rPr lang="ru-RU" sz="1400" b="0" dirty="0" smtClean="0"/>
              <a:t> </a:t>
            </a:r>
            <a:r>
              <a:rPr lang="ru-RU" sz="1400" b="0" dirty="0"/>
              <a:t>маршрутизация работает</a:t>
            </a:r>
            <a:br>
              <a:rPr lang="ru-RU" sz="1400" b="0" dirty="0"/>
            </a:br>
            <a:r>
              <a:rPr lang="ru-RU" sz="1400" b="0" dirty="0" smtClean="0"/>
              <a:t>- Обмен </a:t>
            </a:r>
            <a:r>
              <a:rPr lang="ru-RU" sz="1400" b="0" dirty="0"/>
              <a:t>маршрутами между филиалами и головным офисом выполняется</a:t>
            </a:r>
            <a:br>
              <a:rPr lang="ru-RU" sz="1400" b="0" dirty="0"/>
            </a:br>
            <a:r>
              <a:rPr lang="ru-RU" sz="1400" b="0" dirty="0" smtClean="0"/>
              <a:t>- Один </a:t>
            </a:r>
            <a:r>
              <a:rPr lang="ru-RU" sz="1400" b="0" dirty="0"/>
              <a:t>из VLAN растянут между головным офисом и филиалом №3</a:t>
            </a:r>
            <a:br>
              <a:rPr lang="ru-RU" sz="1400" b="0" dirty="0"/>
            </a:br>
            <a:r>
              <a:rPr lang="ru-RU" sz="1400" b="0" dirty="0" smtClean="0"/>
              <a:t>- Количество </a:t>
            </a:r>
            <a:r>
              <a:rPr lang="ru-RU" sz="1400" b="0" dirty="0" err="1"/>
              <a:t>bum</a:t>
            </a:r>
            <a:r>
              <a:rPr lang="ru-RU" sz="1400" b="0" dirty="0"/>
              <a:t> трафика стало меньше</a:t>
            </a:r>
            <a:br>
              <a:rPr lang="ru-RU" sz="1400" b="0" dirty="0"/>
            </a:br>
            <a:r>
              <a:rPr lang="ru-RU" sz="1400" b="0" dirty="0" smtClean="0"/>
              <a:t>- Маршрутная </a:t>
            </a:r>
            <a:r>
              <a:rPr lang="ru-RU" sz="1400" b="0" dirty="0"/>
              <a:t>информация от филиалов, полученных по OSPF попадает в EVPN и обратно</a:t>
            </a:r>
            <a:br>
              <a:rPr lang="ru-RU" sz="1400" b="0" dirty="0"/>
            </a:br>
            <a:r>
              <a:rPr lang="ru-RU" sz="1400" b="0" dirty="0" smtClean="0"/>
              <a:t>- Серверное </a:t>
            </a:r>
            <a:r>
              <a:rPr lang="ru-RU" sz="1400" b="0" dirty="0"/>
              <a:t>оборудование подключено сразу к двум коммутаторам ядра, что дает отказоустойчивость на случай выхода из строя одного из коммутаторов ядра</a:t>
            </a:r>
            <a:br>
              <a:rPr lang="ru-RU" sz="1400" b="0" dirty="0"/>
            </a:br>
            <a:r>
              <a:rPr lang="ru-RU" sz="1400" b="0" dirty="0" smtClean="0"/>
              <a:t>- Коммутаторы </a:t>
            </a:r>
            <a:r>
              <a:rPr lang="ru-RU" sz="1400" b="0" dirty="0"/>
              <a:t>доступа не имеют резервирования, но такого требования в тех задании нет. Хотя, данная схема позволяет подключить коммутаторы доступа одновременно к двум коммутаторам ядра</a:t>
            </a:r>
            <a:br>
              <a:rPr lang="ru-RU" sz="1400" b="0" dirty="0"/>
            </a:br>
            <a:r>
              <a:rPr lang="ru-RU" sz="1400" b="0" dirty="0" smtClean="0"/>
              <a:t>- Центральный </a:t>
            </a:r>
            <a:r>
              <a:rPr lang="ru-RU" sz="1400" b="0" dirty="0"/>
              <a:t>узел сети заменили на псевдо-фабрику. Ушли от технологии VSS.</a:t>
            </a:r>
            <a:br>
              <a:rPr lang="ru-RU" sz="1400" b="0" dirty="0"/>
            </a:br>
            <a:endParaRPr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>
            <a:spLocks noGrp="1"/>
          </p:cNvSpPr>
          <p:nvPr>
            <p:ph type="title"/>
          </p:nvPr>
        </p:nvSpPr>
        <p:spPr>
          <a:xfrm>
            <a:off x="956225" y="396394"/>
            <a:ext cx="7559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900"/>
              <a:t>Спасибо за внимание!</a:t>
            </a:r>
            <a:r>
              <a:rPr lang="ru" sz="5000" b="0"/>
              <a:t/>
            </a:r>
            <a:br>
              <a:rPr lang="ru" sz="5000" b="0"/>
            </a:br>
            <a:endParaRPr sz="1400" b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</TotalTime>
  <Words>197</Words>
  <Application>Microsoft Office PowerPoint</Application>
  <PresentationFormat>Экран (16:9)</PresentationFormat>
  <Paragraphs>31</Paragraphs>
  <Slides>15</Slides>
  <Notes>9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Светлая тема</vt:lpstr>
      <vt:lpstr>Дизайн сетей ЦОД </vt:lpstr>
      <vt:lpstr>Меня хорошо видно &amp; слышно?</vt:lpstr>
      <vt:lpstr>Защита проекта Тема: Использование технологий, применяемых в ЦОД, для модернизации кампусной сети     </vt:lpstr>
      <vt:lpstr>Цели проекта</vt:lpstr>
      <vt:lpstr>Схема старой сети   </vt:lpstr>
      <vt:lpstr>Сервера и СХД подключаются к нодам ядра сети</vt:lpstr>
      <vt:lpstr>Виртуальный NGFW в головном офисе и «железные» в филиалах. Маршрутной информацией обмениваются по OSPF</vt:lpstr>
      <vt:lpstr>Большой L2 домен. BUM трафик распространяется по всем 50 коммутаторам доступа фирмы</vt:lpstr>
      <vt:lpstr>План новой сети  Центральный узел сети собираем из 4-ёх коммутаторов похожих на схему LEAF-SPINE. Для обеспечения отказоустойчивости центрального узла сети  будет использована схема похожая на LEAF и SPINE  применяемая в ЦОДах. Медные коммутаторы подключаются  как LEAF: по линку до каждого SPINE.  Между SPINE так же есть линк, так как много трафика будет  ходить между этими SPINEами. По своей функциональности  SPINE коммутаторы являются такими же LEAF коммутаторами. Сервера и СХД подключаются к центральному узлу сети по «оптике» либо по «меди».  </vt:lpstr>
      <vt:lpstr>Коммутаторы доступа подключаем к центральному узлу сети по L3. Настраиваем между ними VXLAN/EVPN   </vt:lpstr>
      <vt:lpstr>Между филиалами и NGFW центрального офиса настраиваем OSPF через IPSEC тоннель для обмена маршрутной информацией. Между оптическими ядрами и NGFW делаем «перекладывание» маршрутов из OSPF в EVPN и обратно.</vt:lpstr>
      <vt:lpstr>До филиала №3 прокидываем VXLAN/EVPN, но только одного VLAN через IPSEC в транспортном режиме по L2 VPN каналу от провайдера. Между ядром и NGFW добавляем sub интерфейс для растягивания Underlay в филиал 3.</vt:lpstr>
      <vt:lpstr>Полная схема сети</vt:lpstr>
      <vt:lpstr>Итог: - Таблицы mac-адресов всех VLAN распространяются посредством EVPN - От широковещательного L2 домена ушли. Все коммутаторы доступа "стали" маршрутизаторами   доступа - Межвлановая маршрутизация работает - Обмен маршрутами между филиалами и головным офисом выполняется - Один из VLAN растянут между головным офисом и филиалом №3 - Количество bum трафика стало меньше - Маршрутная информация от филиалов, полученных по OSPF попадает в EVPN и обратно - Серверное оборудование подключено сразу к двум коммутаторам ядра, что дает отказоустойчивость на случай выхода из строя одного из коммутаторов ядра - Коммутаторы доступа не имеют резервирования, но такого требования в тех задании нет. Хотя, данная схема позволяет подключить коммутаторы доступа одновременно к двум коммутаторам ядра - Центральный узел сети заменили на псевдо-фабрику. Ушли от технологии VSS.    </vt:lpstr>
      <vt:lpstr>Спасибо за внимание!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Название курса</dc:title>
  <dc:creator>Ворошкевич И.А</dc:creator>
  <cp:lastModifiedBy>Ванёк</cp:lastModifiedBy>
  <cp:revision>26</cp:revision>
  <dcterms:modified xsi:type="dcterms:W3CDTF">2026-07-20T18:17:21Z</dcterms:modified>
</cp:coreProperties>
</file>